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64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28C7-BA06-BC81-833E-CB6E9148D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A5309-E3B3-EC24-E93F-B77217F7C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1F9F1-6D8B-E33C-DF97-5A7A36DC1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5FCF-3D29-475D-9558-8B39DF79B1C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0DE0C-9EDF-D166-D81A-0E152C11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54586-AD3B-EB7E-40A8-288B95FF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5A6E2-5F43-43A5-98F5-DC3681274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181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115B6-4EB3-2873-7F16-F6E1F977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40AC5-D1CF-4436-6090-62C2B354B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2364D-598C-46B8-7B58-902A42A1A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5FCF-3D29-475D-9558-8B39DF79B1C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35800-D347-2BAF-5C15-7299CD72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DA8F-A231-0302-E40C-D549C053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5A6E2-5F43-43A5-98F5-DC3681274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90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6AAE-CDA1-52EB-A758-6AEBD0B03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D738D-8214-2616-7C2D-5711B2010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820AC-5D91-F400-6D0F-63A8943C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5FCF-3D29-475D-9558-8B39DF79B1C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7BFC2-EF9E-44B7-0403-6F81E9B8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27A89-40BF-70F8-2D9A-BC85E05AB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5A6E2-5F43-43A5-98F5-DC3681274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16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6331-FCC8-8C3A-DD21-039B4DB7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5EF04-1FDC-1D66-4128-EEF07632A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07D65-3937-51D9-174C-E5DCFBEDB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E5DAD-FD27-D477-408A-6D6F14F6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5FCF-3D29-475D-9558-8B39DF79B1C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4A301-78B2-CA7D-6952-2ED9CA950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76F4B-AEA1-0B0C-A835-062E91502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5A6E2-5F43-43A5-98F5-DC3681274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31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3A15B-910C-21D4-E9E2-EF39EB6A6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DEA7B-2FAC-B1AA-05E3-00B595C69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93ECA-233E-6430-B67C-6A7A44808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7A0DFB-FC61-744D-1646-CB4726949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D655F0-32EA-328B-D538-68D544700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141A3-A797-C0D7-B76D-04C42043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5FCF-3D29-475D-9558-8B39DF79B1C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D42E85-C6BB-8150-C08F-E56A55986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3AE5E-ACD7-BACF-CFFD-F3932CBF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5A6E2-5F43-43A5-98F5-DC3681274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025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2689-D83F-0E9D-98C9-58E73206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A86D2-7A80-7AC4-63D4-ACC84D9F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5FCF-3D29-475D-9558-8B39DF79B1C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325E5-430A-0E1B-1EA9-21D3E0F5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F0692-09CC-142F-47A0-86FA0132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5A6E2-5F43-43A5-98F5-DC3681274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30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5062E-B0EA-F457-0227-A9062AE8F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5FCF-3D29-475D-9558-8B39DF79B1C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E8CEB-5713-F9F3-C9B6-10A70CF8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63C8B-E702-EBD9-17AB-4417E07C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5A6E2-5F43-43A5-98F5-DC3681274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90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D1BFB-E489-0410-39B3-56B95E62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3FF79-F054-E700-55C8-39487AA8C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593B-6968-EA45-7D3C-CD2E28829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70A0F-18BC-2BB3-14B7-0C49E798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5FCF-3D29-475D-9558-8B39DF79B1C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8985C-1EFA-A358-3EB7-D552FDA57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90DA4-2048-9EB2-4A8E-A63022CD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5A6E2-5F43-43A5-98F5-DC3681274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011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4ED5-9742-6636-673A-48F59D3DE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A55ECE-E9D9-EFC2-0018-6ED89ADF65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4ED7C-46EE-46CC-04E8-ACE3412D8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84690-3BD1-4E46-5803-07C685B6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5FCF-3D29-475D-9558-8B39DF79B1C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14B94-4731-CC14-ED13-925AC2AA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1D130-AA1A-3567-CB5A-BA54D6C8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5A6E2-5F43-43A5-98F5-DC3681274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66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ABC5-3773-55BD-54F6-D6792635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AE88C-A874-8737-9CFA-59D21E75E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37882-6C9B-0339-4E72-3C48FC006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5FCF-3D29-475D-9558-8B39DF79B1C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0786C-F2CD-299B-FE28-45CBCFAC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96669-EB24-9CA5-CA9E-0DC63D33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5A6E2-5F43-43A5-98F5-DC3681274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45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0E40DD-7290-7DEF-C625-237F64B93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BB5B9-4671-769E-BE28-312DA187A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01945-9F52-D811-86E1-29388B0C5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5FCF-3D29-475D-9558-8B39DF79B1C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0A2-0F41-6A1C-08D2-C2A7423C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C5533-41DF-7BAA-A12A-0A463FA7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5A6E2-5F43-43A5-98F5-DC3681274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08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E14143-05AC-50E3-BFD7-B5B4176EB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31BF1-2C36-DBD0-2AAB-CEA36817A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2E8C5-EC0E-932C-2FE5-F13BBA259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D5FCF-3D29-475D-9558-8B39DF79B1C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47BF3-9DF8-4E33-8737-A88439364E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060E8-8C92-679B-6ED9-1CF5A676A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5A6E2-5F43-43A5-98F5-DC3681274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42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3A40-3004-E40F-8FE9-A995D6C98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819" y="1897626"/>
            <a:ext cx="10183762" cy="2487101"/>
          </a:xfrm>
        </p:spPr>
        <p:txBody>
          <a:bodyPr>
            <a:normAutofit/>
          </a:bodyPr>
          <a:lstStyle/>
          <a:p>
            <a:r>
              <a:rPr lang="en-US" sz="4800" b="1" dirty="0"/>
              <a:t>Electric Vehicle (EV) Sales Analysis – India</a:t>
            </a:r>
            <a:br>
              <a:rPr lang="en-US" dirty="0"/>
            </a:br>
            <a:r>
              <a:rPr lang="en-US" sz="3600" dirty="0"/>
              <a:t>Key Insights by Manufacturers &amp; State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5974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46495B-FA32-559D-9251-D88D73179216}"/>
              </a:ext>
            </a:extLst>
          </p:cNvPr>
          <p:cNvSpPr txBox="1"/>
          <p:nvPr/>
        </p:nvSpPr>
        <p:spPr>
          <a:xfrm>
            <a:off x="383457" y="245806"/>
            <a:ext cx="1154307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endParaRPr lang="en-US" sz="2800" b="1" dirty="0"/>
          </a:p>
          <a:p>
            <a:pPr algn="ctr">
              <a:spcAft>
                <a:spcPts val="1200"/>
              </a:spcAft>
            </a:pPr>
            <a:r>
              <a:rPr lang="en-US" sz="4000" b="1" i="0" dirty="0">
                <a:effectLst/>
              </a:rPr>
              <a:t>DASHBOARD HIGHLIGHTS</a:t>
            </a:r>
            <a:endParaRPr lang="en-US" sz="2800" b="1" dirty="0"/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</a:rPr>
              <a:t>Top &amp; Bottom EV Makers</a:t>
            </a:r>
            <a:r>
              <a:rPr lang="en-US" sz="2800" b="0" i="0" dirty="0">
                <a:effectLst/>
              </a:rPr>
              <a:t> (2-wheelers) in FY 2023 &amp; 2024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</a:rPr>
              <a:t>State-wise EV Penetration</a:t>
            </a:r>
            <a:r>
              <a:rPr lang="en-US" sz="2800" b="0" i="0" dirty="0">
                <a:effectLst/>
              </a:rPr>
              <a:t>: Identifies high and low adoption regions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</a:rPr>
              <a:t>Sales Decline Analysis</a:t>
            </a:r>
            <a:r>
              <a:rPr lang="en-US" sz="2800" b="0" i="0" dirty="0">
                <a:effectLst/>
              </a:rPr>
              <a:t>: States with negative EV growth from 2022–2024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</a:rPr>
              <a:t>Quarterly Trends</a:t>
            </a:r>
            <a:r>
              <a:rPr lang="en-US" sz="2800" b="0" i="0" dirty="0">
                <a:effectLst/>
              </a:rPr>
              <a:t>: Performance of top 4-wheeler EV makers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</a:rPr>
              <a:t>Comparative Analysis</a:t>
            </a:r>
            <a:r>
              <a:rPr lang="en-US" sz="2800" b="0" i="0" dirty="0">
                <a:effectLst/>
              </a:rPr>
              <a:t>: EV sales &amp; penetration in Delhi vs Karnataka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</a:rPr>
              <a:t>CAGR Analysis</a:t>
            </a:r>
            <a:r>
              <a:rPr lang="en-US" sz="2800" b="0" i="0" dirty="0">
                <a:effectLst/>
              </a:rPr>
              <a:t>: Growth rates by maker and by state (2022–2024)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</a:rPr>
              <a:t>Seasonality</a:t>
            </a:r>
            <a:r>
              <a:rPr lang="en-US" sz="2800" b="0" i="0" dirty="0">
                <a:effectLst/>
              </a:rPr>
              <a:t>: Peak and low seasons for EV sales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</a:rPr>
              <a:t>2030 Forecast</a:t>
            </a:r>
            <a:r>
              <a:rPr lang="en-US" sz="2800" b="0" i="0" dirty="0">
                <a:effectLst/>
              </a:rPr>
              <a:t>: Projected EV sales using CAGR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</a:rPr>
              <a:t>Revenue Growth Estimates</a:t>
            </a:r>
            <a:r>
              <a:rPr lang="en-US" sz="2800" b="0" i="0" dirty="0">
                <a:effectLst/>
              </a:rPr>
              <a:t>: 2W and 4W EV segments (2022–2024)</a:t>
            </a:r>
          </a:p>
        </p:txBody>
      </p:sp>
    </p:spTree>
    <p:extLst>
      <p:ext uri="{BB962C8B-B14F-4D97-AF65-F5344CB8AC3E}">
        <p14:creationId xmlns:p14="http://schemas.microsoft.com/office/powerpoint/2010/main" val="220981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77584B-C13B-AC4F-F409-BC7EBEEFE6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03" y="1415845"/>
            <a:ext cx="10972799" cy="524059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AA7005-9748-450D-C7DB-690D522CE843}"/>
              </a:ext>
            </a:extLst>
          </p:cNvPr>
          <p:cNvSpPr txBox="1"/>
          <p:nvPr/>
        </p:nvSpPr>
        <p:spPr>
          <a:xfrm>
            <a:off x="580104" y="327094"/>
            <a:ext cx="107515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STATES VIEW</a:t>
            </a:r>
          </a:p>
        </p:txBody>
      </p:sp>
    </p:spTree>
    <p:extLst>
      <p:ext uri="{BB962C8B-B14F-4D97-AF65-F5344CB8AC3E}">
        <p14:creationId xmlns:p14="http://schemas.microsoft.com/office/powerpoint/2010/main" val="4179043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292A92-8E31-F420-D33D-2A35242B3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46" y="1052053"/>
            <a:ext cx="10151908" cy="558472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03ECD8-36F2-76D0-00B9-B69810FE9C07}"/>
              </a:ext>
            </a:extLst>
          </p:cNvPr>
          <p:cNvSpPr txBox="1"/>
          <p:nvPr/>
        </p:nvSpPr>
        <p:spPr>
          <a:xfrm>
            <a:off x="1327355" y="186813"/>
            <a:ext cx="9360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MAKER’S VIEW</a:t>
            </a:r>
          </a:p>
        </p:txBody>
      </p:sp>
    </p:spTree>
    <p:extLst>
      <p:ext uri="{BB962C8B-B14F-4D97-AF65-F5344CB8AC3E}">
        <p14:creationId xmlns:p14="http://schemas.microsoft.com/office/powerpoint/2010/main" val="1434670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79787-8C46-6910-65AD-7BB88701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 of EV Market in India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1D302F-D93E-2C1F-54AC-452CE9B616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567581"/>
            <a:ext cx="1022503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India’s EV market is growing rapidly due to: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Government subsidies (FAME II)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Better charging infrastructure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Increased adoption of 2W E</a:t>
            </a:r>
            <a:r>
              <a:rPr lang="en-US" altLang="en-US" dirty="0"/>
              <a:t>Vs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 penetration highest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2-wheelers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followed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4-wheelers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Sales growth driven mainly by urban and semi-urban markets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11609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60EB-6994-FDA6-499D-2E902749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 Sales by Manufacturers (Top Performers)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26CE13-5776-A1C9-B606-5B0643328E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4"/>
            <a:ext cx="9846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 EV Makers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dominate majority of sales: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Tata Motors leads in 4W EV sales with models like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Nexon EV, Tiago EV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TVS, Ola, Ather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lead in 2W EV segment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market shows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concentration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with top 3 manufacturers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contributing majority of total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 entrants are expanding, but volume is still low</a:t>
            </a:r>
          </a:p>
        </p:txBody>
      </p:sp>
    </p:spTree>
    <p:extLst>
      <p:ext uri="{BB962C8B-B14F-4D97-AF65-F5344CB8AC3E}">
        <p14:creationId xmlns:p14="http://schemas.microsoft.com/office/powerpoint/2010/main" val="1688437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CEA6F-DD8D-FF79-41C6-A73379282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 Sales by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14B50-822E-2F1A-AF14-701DD881F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Top Performing States:</a:t>
            </a:r>
            <a:r>
              <a:rPr lang="en-IN" dirty="0"/>
              <a:t> (Based on typical trends)</a:t>
            </a:r>
          </a:p>
          <a:p>
            <a:pPr marL="457200" lvl="1" indent="0">
              <a:buNone/>
            </a:pPr>
            <a:r>
              <a:rPr lang="en-IN" dirty="0"/>
              <a:t>Maharashtra, Karnataka, Tamil Nadu, Delhi, Uttar Pradesh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b="1" dirty="0"/>
              <a:t>Factors driving sales:</a:t>
            </a:r>
          </a:p>
          <a:p>
            <a:pPr lvl="1"/>
            <a:r>
              <a:rPr lang="en-IN" dirty="0"/>
              <a:t>Higher urban population</a:t>
            </a:r>
          </a:p>
          <a:p>
            <a:pPr lvl="1"/>
            <a:r>
              <a:rPr lang="en-IN" dirty="0"/>
              <a:t>Better charging infrastructure</a:t>
            </a:r>
          </a:p>
          <a:p>
            <a:pPr lvl="1"/>
            <a:r>
              <a:rPr lang="en-IN" dirty="0"/>
              <a:t>State-level EV incentives and road tax exemptions</a:t>
            </a:r>
          </a:p>
          <a:p>
            <a:pPr lvl="1"/>
            <a:endParaRPr lang="en-IN" dirty="0"/>
          </a:p>
          <a:p>
            <a:r>
              <a:rPr lang="en-IN" dirty="0"/>
              <a:t>Southern states show strong adoption in both 2W and 4W segments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821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B1D6-9386-C9BC-8942-196713F3C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Growth Trends &amp; Seasonality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56722F-920D-E612-DEE7-959DD629D4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93082"/>
            <a:ext cx="860331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Consistent month-on-month increase in EV sales due to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Festivals (Oct–Dec) usually show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spike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2W EVs show more seasonal variation than 4W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Slowdowns often due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Battery-related concerns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Changes in subsidy policies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087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04401-C79B-44EA-4FB9-96AF2A902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CE441-93F5-EE71-4973-1566F97D3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Insights</a:t>
            </a:r>
          </a:p>
          <a:p>
            <a:r>
              <a:rPr lang="en-US" dirty="0"/>
              <a:t>EV market is growing, dominated by a few manufacturers</a:t>
            </a:r>
          </a:p>
          <a:p>
            <a:r>
              <a:rPr lang="en-US" dirty="0"/>
              <a:t>Strong regional variation, with South &amp; West India leading</a:t>
            </a:r>
          </a:p>
          <a:p>
            <a:r>
              <a:rPr lang="en-US" dirty="0"/>
              <a:t>2W EV segment contributes the largest share</a:t>
            </a:r>
          </a:p>
          <a:p>
            <a:r>
              <a:rPr lang="en-US" b="1" dirty="0"/>
              <a:t>Recommendations</a:t>
            </a:r>
          </a:p>
          <a:p>
            <a:r>
              <a:rPr lang="en-US" dirty="0"/>
              <a:t>Expand charging infra in Tier-2/3 cities</a:t>
            </a:r>
          </a:p>
          <a:p>
            <a:r>
              <a:rPr lang="en-US" dirty="0"/>
              <a:t>Target marketing in high-growth states</a:t>
            </a:r>
          </a:p>
          <a:p>
            <a:r>
              <a:rPr lang="en-US" dirty="0"/>
              <a:t>Increase financing options for EV buyers</a:t>
            </a:r>
          </a:p>
          <a:p>
            <a:r>
              <a:rPr lang="en-US" dirty="0"/>
              <a:t>Promote entry-level EV models to improve penetration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0662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388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Electric Vehicle (EV) Sales Analysis – India Key Insights by Manufacturers &amp; State </vt:lpstr>
      <vt:lpstr>PowerPoint Presentation</vt:lpstr>
      <vt:lpstr>PowerPoint Presentation</vt:lpstr>
      <vt:lpstr>PowerPoint Presentation</vt:lpstr>
      <vt:lpstr>Overview of EV Market in India</vt:lpstr>
      <vt:lpstr>EV Sales by Manufacturers (Top Performers)</vt:lpstr>
      <vt:lpstr>EV Sales by States</vt:lpstr>
      <vt:lpstr>Growth Trends &amp; Seasonality</vt:lpstr>
      <vt:lpstr>Key Insights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Elango</dc:creator>
  <cp:lastModifiedBy>Bhavya Elango</cp:lastModifiedBy>
  <cp:revision>1</cp:revision>
  <dcterms:created xsi:type="dcterms:W3CDTF">2025-11-19T06:26:55Z</dcterms:created>
  <dcterms:modified xsi:type="dcterms:W3CDTF">2025-11-19T06:32:24Z</dcterms:modified>
</cp:coreProperties>
</file>